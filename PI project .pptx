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Amiri" panose="020B0604020202020204" charset="-78"/>
      <p:regular r:id="rId14"/>
      <p:bold r:id="rId15"/>
      <p:italic r:id="rId16"/>
      <p:boldItalic r:id="rId17"/>
    </p:embeddedFont>
    <p:embeddedFont>
      <p:font typeface="Lato" panose="020B0604020202020204" pitchFamily="34" charset="0"/>
      <p:regular r:id="rId18"/>
      <p:bold r:id="rId19"/>
      <p:italic r:id="rId20"/>
      <p:boldItalic r:id="rId21"/>
    </p:embeddedFont>
    <p:embeddedFont>
      <p:font typeface="Raleway" panose="020B0604020202020204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e7d3a1c6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e7d3a1c6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e7d3a1c65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e7d3a1c65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7d3a1c65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7d3a1c65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e7d3a1c65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e7d3a1c65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e7d3a1c65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e7d3a1c65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e7d3a1c65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e7d3a1c65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e7d3a1c65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e7d3a1c65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e7d3a1c65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e7d3a1c65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e7d3a1c65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e7d3a1c65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ee9fc40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ee9fc40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ee9fc407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ee9fc407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fs9oPpAbSJSqJTO30677kcMHm3LrMKia?usp=sh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mv5Kv8yTNiIUbTZgqkBsp6pyCVE4M2m2?usp=sh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a1geVz9SNhk-zDHVnVEE6MJ1E6u61p0w?usp=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AUKq2MvV45ldzqeYqTk_38TvopC8uevC?usp=s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wNo-RMHeHQ6GcrdQqasUNcyEf37bd3p8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623600" y="1447525"/>
            <a:ext cx="39927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2100">
                <a:solidFill>
                  <a:srgbClr val="1A1A1A"/>
                </a:solidFill>
              </a:rPr>
              <a:t>Image Blur vs. Sharp Classification Using Traditional Neural Networks 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39250" y="2951625"/>
            <a:ext cx="2539800" cy="17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b="1">
                <a:solidFill>
                  <a:srgbClr val="1A1A1A"/>
                </a:solidFill>
              </a:rPr>
              <a:t>Members</a:t>
            </a:r>
            <a:r>
              <a:rPr lang="ar">
                <a:solidFill>
                  <a:srgbClr val="1A1A1A"/>
                </a:solidFill>
              </a:rPr>
              <a:t>:</a:t>
            </a:r>
            <a:endParaRPr>
              <a:solidFill>
                <a:srgbClr val="1A1A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400"/>
              <a:t>Nada Alaklook       	  220222591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400"/>
              <a:t>Salma Abu Hujair          220222331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400"/>
              <a:t>Aya Abu Jamea              220220967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A1A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b="1">
                <a:solidFill>
                  <a:srgbClr val="1A1A1A"/>
                </a:solidFill>
              </a:rPr>
              <a:t>Course Name:</a:t>
            </a:r>
            <a:br>
              <a:rPr lang="ar" b="1"/>
            </a:br>
            <a:r>
              <a:rPr lang="ar" sz="1200"/>
              <a:t>Digital image processing.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/>
              <a:t>Dr. Mohamed Alsheakhali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618" y="797000"/>
            <a:ext cx="3950308" cy="19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6625" y="2716050"/>
            <a:ext cx="3950301" cy="212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601125" y="1492200"/>
            <a:ext cx="7688700" cy="3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2135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part   </a:t>
            </a:r>
            <a:r>
              <a:rPr lang="ar" sz="2135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135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ar" sz="2135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35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ar" sz="2158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Neural Networks (NNs)</a:t>
            </a:r>
            <a:endParaRPr sz="2158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900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17647"/>
              <a:buFont typeface="Arial"/>
              <a:buChar char="●"/>
            </a:pPr>
            <a:r>
              <a:rPr lang="ar" sz="1700" b="1">
                <a:solidFill>
                  <a:srgbClr val="000000"/>
                </a:solidFill>
                <a:latin typeface="Amiri"/>
                <a:ea typeface="Amiri"/>
                <a:cs typeface="Amiri"/>
                <a:sym typeface="Amiri"/>
              </a:rPr>
              <a:t>Core Concept:</a:t>
            </a:r>
            <a:r>
              <a:rPr lang="ar" sz="1700">
                <a:solidFill>
                  <a:srgbClr val="000000"/>
                </a:solidFill>
                <a:latin typeface="Amiri"/>
                <a:ea typeface="Amiri"/>
                <a:cs typeface="Amiri"/>
                <a:sym typeface="Amiri"/>
              </a:rPr>
              <a:t> Brain-inspired computational models used in machine learning to recognize patterns and make decisions.</a:t>
            </a:r>
            <a:endParaRPr sz="1700">
              <a:solidFill>
                <a:srgbClr val="000000"/>
              </a:solidFill>
              <a:latin typeface="Amiri"/>
              <a:ea typeface="Amiri"/>
              <a:cs typeface="Amiri"/>
              <a:sym typeface="Amiri"/>
            </a:endParaRPr>
          </a:p>
          <a:p>
            <a:pPr marL="457200" lvl="0" indent="-3270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647"/>
              <a:buFont typeface="Arial"/>
              <a:buChar char="●"/>
            </a:pPr>
            <a:r>
              <a:rPr lang="ar" sz="1700" b="1">
                <a:solidFill>
                  <a:srgbClr val="000000"/>
                </a:solidFill>
                <a:latin typeface="Amiri"/>
                <a:ea typeface="Amiri"/>
                <a:cs typeface="Amiri"/>
                <a:sym typeface="Amiri"/>
              </a:rPr>
              <a:t>Biological Inspiration:</a:t>
            </a:r>
            <a:r>
              <a:rPr lang="ar" sz="1700">
                <a:solidFill>
                  <a:srgbClr val="000000"/>
                </a:solidFill>
                <a:latin typeface="Amiri"/>
                <a:ea typeface="Amiri"/>
                <a:cs typeface="Amiri"/>
                <a:sym typeface="Amiri"/>
              </a:rPr>
              <a:t> They attempt to create machines that work similarly to the human brain by using components that behave like biological neurons.</a:t>
            </a:r>
            <a:endParaRPr sz="1700">
              <a:solidFill>
                <a:srgbClr val="000000"/>
              </a:solidFill>
              <a:latin typeface="Amiri"/>
              <a:ea typeface="Amiri"/>
              <a:cs typeface="Amiri"/>
              <a:sym typeface="Amiri"/>
            </a:endParaRPr>
          </a:p>
          <a:p>
            <a:pPr marL="457200" lvl="0" indent="-3270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647"/>
              <a:buFont typeface="Arial"/>
              <a:buChar char="●"/>
            </a:pPr>
            <a:r>
              <a:rPr lang="ar" sz="1700" b="1">
                <a:solidFill>
                  <a:srgbClr val="000000"/>
                </a:solidFill>
                <a:latin typeface="Amiri"/>
                <a:ea typeface="Amiri"/>
                <a:cs typeface="Amiri"/>
                <a:sym typeface="Amiri"/>
              </a:rPr>
              <a:t>Project Specifics:</a:t>
            </a:r>
            <a:r>
              <a:rPr lang="ar" sz="1700">
                <a:solidFill>
                  <a:srgbClr val="000000"/>
                </a:solidFill>
                <a:latin typeface="Amiri"/>
                <a:ea typeface="Amiri"/>
                <a:cs typeface="Amiri"/>
                <a:sym typeface="Amiri"/>
              </a:rPr>
              <a:t> This project utilizes a traditional Multi-layer Perceptron (MLP) to classify images as "blurred" or "sharp" based on extracted features.</a:t>
            </a:r>
            <a:endParaRPr sz="1700">
              <a:solidFill>
                <a:srgbClr val="000000"/>
              </a:solidFill>
              <a:latin typeface="Amiri"/>
              <a:ea typeface="Amiri"/>
              <a:cs typeface="Amiri"/>
              <a:sym typeface="Amiri"/>
            </a:endParaRPr>
          </a:p>
          <a:p>
            <a:pPr marL="457200" lvl="0" indent="-3270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647"/>
              <a:buFont typeface="Arial"/>
              <a:buChar char="●"/>
            </a:pPr>
            <a:r>
              <a:rPr lang="ar" sz="1700" b="1">
                <a:solidFill>
                  <a:srgbClr val="000000"/>
                </a:solidFill>
                <a:latin typeface="Amiri"/>
                <a:ea typeface="Amiri"/>
                <a:cs typeface="Amiri"/>
                <a:sym typeface="Amiri"/>
              </a:rPr>
              <a:t>Key Benefits:</a:t>
            </a:r>
            <a:r>
              <a:rPr lang="ar" sz="1700">
                <a:solidFill>
                  <a:srgbClr val="000000"/>
                </a:solidFill>
                <a:latin typeface="Amiri"/>
                <a:ea typeface="Amiri"/>
                <a:cs typeface="Amiri"/>
                <a:sym typeface="Amiri"/>
              </a:rPr>
              <a:t> These networks offer adaptability, parallel processing capabilities, and fault tolerance.</a:t>
            </a:r>
            <a:endParaRPr sz="1700">
              <a:solidFill>
                <a:srgbClr val="000000"/>
              </a:solidFill>
              <a:latin typeface="Amiri"/>
              <a:ea typeface="Amiri"/>
              <a:cs typeface="Amiri"/>
              <a:sym typeface="Amiri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511150" y="1383800"/>
            <a:ext cx="8632800" cy="38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ar" sz="2008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Architecture &amp; Learning Mechanism</a:t>
            </a:r>
            <a:endParaRPr sz="2008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The Layer Hierarchy (Structure):</a:t>
            </a:r>
            <a:endParaRPr sz="1408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308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Layer: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Receives the 44 extracted features from the dataset and passes them forward without computation.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30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Layers: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"processing engine" where core computations occur. They learn abstract relationships and extract "hidden" features from the data.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30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Layer: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final stage that provides the prediction (Classifying the image as Sharp or Blurred).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The Mechanics of Learning (Process):</a:t>
            </a:r>
            <a:endParaRPr sz="1408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308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Foundation: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neuron operates based on the weighted sum:</a:t>
            </a:r>
            <a:b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Σ(weight * input) + bias</a:t>
            </a:r>
            <a:endParaRPr sz="1408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30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Three-Stage Learning Cycle:</a:t>
            </a:r>
            <a:endParaRPr sz="1408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30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Computation: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is introduced into the system.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30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Generation: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network produces an output based on current parameters.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30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Refinement: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model improves performance by iteratively adjusting </a:t>
            </a: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Weights and Biases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minimize error.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656000" y="1229775"/>
            <a:ext cx="8102700" cy="3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2635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Components of the MLP</a:t>
            </a:r>
            <a:endParaRPr sz="2635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ar" sz="193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Neurons &amp; Connections:</a:t>
            </a:r>
            <a:r>
              <a:rPr lang="ar" sz="19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Neurons are the basic processing units that apply activation functions.</a:t>
            </a:r>
            <a:endParaRPr sz="193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621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ar" sz="19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Connections transfer signals between layers.</a:t>
            </a:r>
            <a:endParaRPr sz="193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93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Weights (Importance):</a:t>
            </a:r>
            <a:endParaRPr sz="1935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621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ar" sz="19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values that determine the influence of each input feature.</a:t>
            </a:r>
            <a:endParaRPr sz="193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62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ar" sz="19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weights indicate more significant features for blur detection.</a:t>
            </a:r>
            <a:endParaRPr sz="193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93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Biases (Flexibility):</a:t>
            </a:r>
            <a:endParaRPr sz="1935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621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ar" sz="19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additional parameter used to adjust the output along with the weighted sum.</a:t>
            </a:r>
            <a:endParaRPr sz="193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62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ar" sz="19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the model to make decisions even when input values are zero.</a:t>
            </a:r>
            <a:endParaRPr sz="193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93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Rules (Optimization):</a:t>
            </a:r>
            <a:endParaRPr sz="1935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621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ar" sz="19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mechanism for updating weights using </a:t>
            </a:r>
            <a:r>
              <a:rPr lang="ar" sz="193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Backpropagation</a:t>
            </a:r>
            <a:r>
              <a:rPr lang="ar" sz="19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3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462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ar" sz="19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the model minimizes error and improves accuracy over time.</a:t>
            </a:r>
            <a:endParaRPr sz="213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727650" y="1554825"/>
            <a:ext cx="7688700" cy="29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2008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Comparison: MLP vs. CNN</a:t>
            </a:r>
            <a:endParaRPr sz="2008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8015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Times New Roman"/>
              <a:buChar char="●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(MLP):</a:t>
            </a:r>
            <a:endParaRPr sz="1408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801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Times New Roman"/>
              <a:buChar char="○"/>
            </a:pP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Feedforward networks with no memory; they treat each input independently.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801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Arial"/>
              <a:buChar char="○"/>
            </a:pP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Rely on </a:t>
            </a: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handcrafted features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provided by the user.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801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Times New Roman"/>
              <a:buChar char="○"/>
            </a:pP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for structured data (e.g., house prices) and are computationally lightweight.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801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Times New Roman"/>
              <a:buChar char="●"/>
            </a:pP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Convolutional (CNN):</a:t>
            </a:r>
            <a:endParaRPr sz="1408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801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Times New Roman"/>
              <a:buChar char="○"/>
            </a:pP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grid-like data like images and videos.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801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Arial"/>
              <a:buChar char="○"/>
            </a:pP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lang="ar" sz="140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convolutional and pooling layers</a:t>
            </a: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automatically extract features like edges and textures.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801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Times New Roman"/>
              <a:buChar char="○"/>
            </a:pPr>
            <a:r>
              <a:rPr lang="ar" sz="14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effective for complex visual tasks like object detection.</a:t>
            </a:r>
            <a:endParaRPr sz="14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831600" y="1490675"/>
            <a:ext cx="7480800" cy="34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1900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 Functions &amp; Optimization</a:t>
            </a:r>
            <a:endParaRPr sz="1900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ar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 Functions:</a:t>
            </a:r>
            <a:r>
              <a:rPr lang="a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These introduce non-linearity, allowing the model to represent complex data; without them, the network acts like a simple linear regression.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ar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ReLU:</a:t>
            </a:r>
            <a:r>
              <a:rPr lang="a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in hidden layers for faster training and better gradient flow.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ar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Sigmoid:</a:t>
            </a:r>
            <a:r>
              <a:rPr lang="a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in the output layer for binary classification to provide a probability between 0 and 1.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ar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Optimizers:</a:t>
            </a:r>
            <a:r>
              <a:rPr lang="a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Algorithms that change weights to minimize the </a:t>
            </a:r>
            <a:r>
              <a:rPr lang="ar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Function</a:t>
            </a:r>
            <a:r>
              <a:rPr lang="a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ar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SGD:</a:t>
            </a:r>
            <a:r>
              <a:rPr lang="a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Efficient for large datasets by updating weights one training example at a time.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ar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Adam:</a:t>
            </a:r>
            <a:r>
              <a:rPr lang="a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Combines momentum and RMSProp to provide adaptive learning rates for each parameter, accelerating convergence.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824900" y="1206500"/>
            <a:ext cx="7225200" cy="40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50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Part</a:t>
            </a:r>
            <a:endParaRPr sz="1500" b="1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500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1: Single Dataset | 6 Features</a:t>
            </a:r>
            <a:endParaRPr sz="1500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Baseline image blur classification using core statistical and texture features.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Blur Dataset (Kaggle) – includes Sharp, Motion Blur, and Defocused images (Total: 1050 images).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(6 Features):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ar" sz="1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LBP Mean:</a:t>
            </a:r>
            <a:r>
              <a:rPr lang="a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Captured basic texture patterns.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ar" sz="1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Statistical:</a:t>
            </a:r>
            <a:r>
              <a:rPr lang="a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Entropy (randomness), Skewness, and Kurtosis (intensity distribution).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ar" sz="1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Clarity:</a:t>
            </a:r>
            <a:r>
              <a:rPr lang="a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Laplacian Variance to measure edge sharpness.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Multi-Layer Perceptron (MLP) Classifier using Keras/TensorFlow with Adam optimizer.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a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Accuracy: 90%.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a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The model shows high precision for Class 0 (0.92); however, Class 1 has slightly lower recall (0.84), suggesting some motion/defocused images are still being misclassified as sharp.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7426775" y="4468450"/>
            <a:ext cx="1360800" cy="657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7426775" y="4604650"/>
            <a:ext cx="1551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13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LINK : MODEL1</a:t>
            </a:r>
            <a:endParaRPr sz="1300" b="1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1245" y="684766"/>
            <a:ext cx="3286325" cy="12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06425" y="1441200"/>
            <a:ext cx="7688700" cy="35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b="1" dirty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2: Two Datasets </a:t>
            </a:r>
            <a:r>
              <a:rPr lang="ar" sz="1600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9 </a:t>
            </a:r>
            <a:r>
              <a:rPr lang="ar" sz="1600" b="1" dirty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sz="1600" b="1" dirty="0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Improving model robustness by integrating multiple data sources.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Datasets: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Combined </a:t>
            </a: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Blur Dataset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 Dataset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increase sample size and diversity.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(9 Features):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Refined </a:t>
            </a: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Clarity Algorithms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detect fine detail visibility.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Statistical Measures (Entropy, Skewness, Kurtosis).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MLPClassifier with an </a:t>
            </a: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Strategy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(merging train/test sets from both sources to create a larger training base).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Accuracy: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74%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(Significant jump from initial 46%–50%).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ar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F1-Score:</a:t>
            </a:r>
            <a:r>
              <a:rPr lang="ar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0.78 (Sharp) / 0.69 (Unclear).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28" name="Google Shape;128;p20"/>
          <p:cNvSpPr txBox="1"/>
          <p:nvPr/>
        </p:nvSpPr>
        <p:spPr>
          <a:xfrm>
            <a:off x="6950550" y="4464275"/>
            <a:ext cx="1673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1A1A1A"/>
              </a:solidFill>
              <a:highlight>
                <a:srgbClr val="D9D9D9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7168250" y="4414150"/>
            <a:ext cx="1673700" cy="72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7168250" y="4571050"/>
            <a:ext cx="186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7211150" y="4586350"/>
            <a:ext cx="158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1300" b="1" u="sng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: MODEL2</a:t>
            </a:r>
            <a:endParaRPr sz="1300" b="1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0975" y="551075"/>
            <a:ext cx="3370975" cy="130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body" idx="1"/>
          </p:nvPr>
        </p:nvSpPr>
        <p:spPr>
          <a:xfrm>
            <a:off x="858875" y="1209850"/>
            <a:ext cx="8391300" cy="43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500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3: Single Dataset | 45 Features</a:t>
            </a:r>
            <a:endParaRPr sz="1500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Achieving high-precision classification using a traditional neural network with advanced feature extraction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Blur Dataset (1,050 samples) with high-dimensional feature integration.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(45 Features):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 &amp; Pattern Analysis: LBP Histogram and Hit-or-Miss.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&amp; Gradient Analysis: FFT and Tenengrad (Mean, Variance).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Measures: Entropy, Skewness, Kurtosis, and Standard Deviation.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Analysis: Laplacian Variance, Morphological Features, and Wavelet Features.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Neural Network (</a:t>
            </a: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TensorFlow/Keras</a:t>
            </a: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featuring Batch Normalization and Dropout layers to prevent overfitting.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ar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  </a:t>
            </a:r>
            <a:r>
              <a:rPr lang="a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Accuracy: 92%.        ||         F1-Score: Sharp (Category 0): 0.94 , Blure(Category 1): 0.89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7535625" y="2754075"/>
            <a:ext cx="1469700" cy="61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7535625" y="2867775"/>
            <a:ext cx="1469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1300" b="1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: MODEL3</a:t>
            </a:r>
            <a:endParaRPr sz="13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9800" y="549650"/>
            <a:ext cx="3182450" cy="10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759250" y="1153575"/>
            <a:ext cx="7814700" cy="44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6407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4: Two Dataset | 44 Features</a:t>
            </a:r>
            <a:endParaRPr sz="6407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6007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r>
              <a:rPr lang="ar" sz="6007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Combined Blur Dataset &amp; KADID-10K </a:t>
            </a:r>
            <a:endParaRPr sz="6007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6007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(11,175 samples) with high-dimensional feature integration.</a:t>
            </a:r>
            <a:endParaRPr sz="6007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6007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(44 Features):</a:t>
            </a:r>
            <a:endParaRPr sz="6007"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972" algn="l" rtl="0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ct val="100000"/>
              <a:buFont typeface="Times New Roman"/>
              <a:buChar char="●"/>
            </a:pPr>
            <a:r>
              <a:rPr lang="ar" sz="6007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 &amp; Pattern Analysis: LBP Histogram.</a:t>
            </a:r>
            <a:endParaRPr sz="6007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972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00000"/>
              <a:buFont typeface="Times New Roman"/>
              <a:buChar char="●"/>
            </a:pPr>
            <a:r>
              <a:rPr lang="ar" sz="6007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&amp; Gradient Analysis: FFT (Mean), Tenengrad (Mean, Variance), and Laplacian Variance.</a:t>
            </a:r>
            <a:endParaRPr sz="6007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972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00000"/>
              <a:buFont typeface="Times New Roman"/>
              <a:buChar char="●"/>
            </a:pPr>
            <a:r>
              <a:rPr lang="ar" sz="6007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Measures: Entropy, Skewness, Kurtosis, and Standard Deviation.</a:t>
            </a:r>
            <a:endParaRPr sz="6007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972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00000"/>
              <a:buFont typeface="Times New Roman"/>
              <a:buChar char="●"/>
            </a:pPr>
            <a:r>
              <a:rPr lang="ar" sz="6007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Analysis: Hit-or-Miss, Morphological (Open, Close, Tophat, Blackhat), and Wavelet Features.</a:t>
            </a:r>
            <a:endParaRPr sz="6007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6007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lang="ar" sz="6007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Neural Network (TensorFlow/Keras) featuring Batch Normalization and Dropout layers to prevent overfitting.</a:t>
            </a:r>
            <a:endParaRPr sz="6007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ar" sz="6007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r>
              <a:rPr lang="ar" sz="6007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:Overall Accuracy: 78%   ||    F1-Score: Sharp (Category 0): 0.81 , Blur (Category 1): 0.74</a:t>
            </a:r>
            <a:endParaRPr sz="6007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6495425" y="2269150"/>
            <a:ext cx="1388100" cy="4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6495425" y="2314900"/>
            <a:ext cx="1528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1300" b="1">
                <a:solidFill>
                  <a:schemeClr val="dk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: MODEL4</a:t>
            </a:r>
            <a:endParaRPr sz="13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200" y="605225"/>
            <a:ext cx="3426051" cy="12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demo </a:t>
            </a:r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u="sng">
                <a:solidFill>
                  <a:schemeClr val="hlink"/>
                </a:solidFill>
                <a:hlinkClick r:id="rId3"/>
              </a:rPr>
              <a:t>demo link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Office PowerPoint</Application>
  <PresentationFormat>عرض على الشاشة (16:9)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7" baseType="lpstr">
      <vt:lpstr>Raleway</vt:lpstr>
      <vt:lpstr>Arial</vt:lpstr>
      <vt:lpstr>Times New Roman</vt:lpstr>
      <vt:lpstr>Lato</vt:lpstr>
      <vt:lpstr>Amiri</vt:lpstr>
      <vt:lpstr>Streamline</vt:lpstr>
      <vt:lpstr>Image Blur vs. Sharp Classification Using Traditional Neural Networks 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demo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Blur vs. Sharp Classification Using Traditional Neural Networks </dc:title>
  <cp:lastModifiedBy>msi</cp:lastModifiedBy>
  <cp:revision>1</cp:revision>
  <dcterms:modified xsi:type="dcterms:W3CDTF">2026-03-14T16:51:44Z</dcterms:modified>
</cp:coreProperties>
</file>